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1 of 10</a:t>
            </a:r>
          </a:p>
        </p:txBody>
      </p:sp>
      <p:sp>
        <p:nvSpPr>
          <p:cNvPr id="7" name="TextBox 6"/>
          <p:cNvSpPr txBox="1"/>
          <p:nvPr/>
        </p:nvSpPr>
        <p:spPr>
          <a:xfrm>
            <a:off x="914400" y="1645920"/>
            <a:ext cx="10332720" cy="2011680"/>
          </a:xfrm>
          <a:prstGeom prst="rect">
            <a:avLst/>
          </a:prstGeom>
          <a:noFill/>
        </p:spPr>
        <p:txBody>
          <a:bodyPr wrap="square">
            <a:spAutoFit/>
          </a:bodyPr>
          <a:lstStyle/>
          <a:p>
            <a:pPr>
              <a:defRPr sz="1300" b="1">
                <a:solidFill>
                  <a:srgbClr val="00D4AA"/>
                </a:solidFill>
              </a:defRPr>
            </a:pPr>
            <a:r>
              <a:t>TRACK 1: ENTERPRISE AGENTIC WORKFLOWS</a:t>
            </a:r>
          </a:p>
          <a:p>
            <a:pPr>
              <a:defRPr sz="5400" b="1">
                <a:solidFill>
                  <a:srgbClr val="FFFFFF"/>
                </a:solidFill>
              </a:defRPr>
            </a:pPr>
            <a:r>
              <a:t>AegisZero</a:t>
            </a:r>
          </a:p>
          <a:p>
            <a:pPr>
              <a:defRPr sz="2000" b="1">
                <a:solidFill>
                  <a:srgbClr val="38BDF8"/>
                </a:solidFill>
              </a:defRPr>
            </a:pPr>
            <a:r>
              <a:t>Autonomous Zero-Trust Identity Governance &amp; SaaS FinOps Swarm</a:t>
            </a:r>
          </a:p>
        </p:txBody>
      </p:sp>
      <p:sp>
        <p:nvSpPr>
          <p:cNvPr id="8" name="Rounded Rectangle 7"/>
          <p:cNvSpPr/>
          <p:nvPr/>
        </p:nvSpPr>
        <p:spPr>
          <a:xfrm>
            <a:off x="914400" y="3840480"/>
            <a:ext cx="10332720" cy="14630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977639"/>
            <a:ext cx="9966960" cy="1188720"/>
          </a:xfrm>
          <a:prstGeom prst="rect">
            <a:avLst/>
          </a:prstGeom>
          <a:noFill/>
        </p:spPr>
        <p:txBody>
          <a:bodyPr wrap="square">
            <a:spAutoFit/>
          </a:bodyPr>
          <a:lstStyle/>
          <a:p>
            <a:pPr>
              <a:defRPr sz="1500">
                <a:solidFill>
                  <a:srgbClr val="FFFFFF"/>
                </a:solidFill>
              </a:defRPr>
            </a:pPr>
            <a:r>
              <a:t>An autonomous multi-agent mesh powered by Workato Enterprise Automation Fabric and Vercel Cockpit that mathematically proves 0.0% CI/CD outage blast-radius and eliminates toxic admin keys across transferring squad members.</a:t>
            </a:r>
          </a:p>
        </p:txBody>
      </p:sp>
      <p:sp>
        <p:nvSpPr>
          <p:cNvPr id="10" name="TextBox 9"/>
          <p:cNvSpPr txBox="1"/>
          <p:nvPr/>
        </p:nvSpPr>
        <p:spPr>
          <a:xfrm>
            <a:off x="914400" y="5486400"/>
            <a:ext cx="10332720" cy="731520"/>
          </a:xfrm>
          <a:prstGeom prst="rect">
            <a:avLst/>
          </a:prstGeom>
          <a:noFill/>
        </p:spPr>
        <p:txBody>
          <a:bodyPr wrap="none">
            <a:spAutoFit/>
          </a:bodyPr>
          <a:lstStyle/>
          <a:p>
            <a:pPr>
              <a:defRPr sz="1300">
                <a:solidFill>
                  <a:srgbClr val="A0AEC0"/>
                </a:solidFill>
              </a:defRPr>
            </a:pPr>
            <a:r>
              <a:t>Team: Saicharan Adapa &amp; Team   •   Workato Hack: Agentic India   •   October 10 - 11, 2026   •   Hyderabad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01  The Problem</a:t>
            </a:r>
          </a:p>
          <a:p>
            <a:pPr>
              <a:defRPr sz="2000" b="1">
                <a:solidFill>
                  <a:srgbClr val="FFFFFF"/>
                </a:solidFill>
              </a:defRPr>
            </a:pPr>
            <a:r>
              <a:t>What Enterprise Challenge Are You Solving?</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2 of 10</a:t>
            </a:r>
          </a:p>
        </p:txBody>
      </p:sp>
      <p:sp>
        <p:nvSpPr>
          <p:cNvPr id="8" name="Rounded Rectangle 7"/>
          <p:cNvSpPr/>
          <p:nvPr/>
        </p:nvSpPr>
        <p:spPr>
          <a:xfrm>
            <a:off x="731520" y="1280160"/>
            <a:ext cx="10698480" cy="12801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10332720" cy="411480"/>
          </a:xfrm>
          <a:prstGeom prst="rect">
            <a:avLst/>
          </a:prstGeom>
          <a:noFill/>
        </p:spPr>
        <p:txBody>
          <a:bodyPr wrap="square">
            <a:spAutoFit/>
          </a:bodyPr>
          <a:lstStyle/>
          <a:p>
            <a:pPr>
              <a:defRPr sz="1300" b="1">
                <a:solidFill>
                  <a:srgbClr val="00D4AA"/>
                </a:solidFill>
              </a:defRPr>
            </a:pPr>
            <a:r>
              <a:t>The Core Enterprise Dilemma</a:t>
            </a:r>
          </a:p>
        </p:txBody>
      </p:sp>
      <p:sp>
        <p:nvSpPr>
          <p:cNvPr id="10" name="TextBox 9"/>
          <p:cNvSpPr txBox="1"/>
          <p:nvPr/>
        </p:nvSpPr>
        <p:spPr>
          <a:xfrm>
            <a:off x="914400" y="1737360"/>
            <a:ext cx="10332720" cy="731520"/>
          </a:xfrm>
          <a:prstGeom prst="rect">
            <a:avLst/>
          </a:prstGeom>
          <a:noFill/>
        </p:spPr>
        <p:txBody>
          <a:bodyPr wrap="square">
            <a:spAutoFit/>
          </a:bodyPr>
          <a:lstStyle/>
          <a:p>
            <a:pPr>
              <a:defRPr sz="1400">
                <a:solidFill>
                  <a:srgbClr val="FFFFFF"/>
                </a:solidFill>
              </a:defRPr>
            </a:pPr>
            <a:r>
              <a:t>When employees switch squads, their legacy administrative privileges and expensive cloud licenses are almost never revoked. This creates dangerous 'Toxic Admin Keys' that violate SOC2 CC6.1 segregation of duties and bleed tens of thousands in zombie software spend.</a:t>
            </a:r>
          </a:p>
        </p:txBody>
      </p:sp>
      <p:sp>
        <p:nvSpPr>
          <p:cNvPr id="11" name="Rounded Rectangle 10"/>
          <p:cNvSpPr/>
          <p:nvPr/>
        </p:nvSpPr>
        <p:spPr>
          <a:xfrm>
            <a:off x="731520" y="2834640"/>
            <a:ext cx="3383280" cy="32918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44368"/>
            <a:ext cx="3017520" cy="411480"/>
          </a:xfrm>
          <a:prstGeom prst="rect">
            <a:avLst/>
          </a:prstGeom>
          <a:noFill/>
        </p:spPr>
        <p:txBody>
          <a:bodyPr wrap="square">
            <a:spAutoFit/>
          </a:bodyPr>
          <a:lstStyle/>
          <a:p>
            <a:pPr>
              <a:defRPr sz="1300" b="1">
                <a:solidFill>
                  <a:srgbClr val="38BDF8"/>
                </a:solidFill>
              </a:defRPr>
            </a:pPr>
            <a:r>
              <a:t>Domain Name</a:t>
            </a:r>
          </a:p>
        </p:txBody>
      </p:sp>
      <p:sp>
        <p:nvSpPr>
          <p:cNvPr id="13" name="TextBox 12"/>
          <p:cNvSpPr txBox="1"/>
          <p:nvPr/>
        </p:nvSpPr>
        <p:spPr>
          <a:xfrm>
            <a:off x="914400" y="3291840"/>
            <a:ext cx="3017520" cy="2651760"/>
          </a:xfrm>
          <a:prstGeom prst="rect">
            <a:avLst/>
          </a:prstGeom>
          <a:noFill/>
        </p:spPr>
        <p:txBody>
          <a:bodyPr wrap="square">
            <a:spAutoFit/>
          </a:bodyPr>
          <a:lstStyle/>
          <a:p>
            <a:pPr>
              <a:defRPr sz="1300">
                <a:solidFill>
                  <a:srgbClr val="FFFFFF"/>
                </a:solidFill>
              </a:defRPr>
            </a:pPr>
            <a:r>
              <a:t>• Enterprise IAM &amp; Zero-Trust</a:t>
            </a:r>
            <a:br/>
            <a:r>
              <a:t>• SaaS FinOps Arbitrage</a:t>
            </a:r>
            <a:br/>
            <a:r>
              <a:t>• Continuous SOC2 Compliance</a:t>
            </a:r>
            <a:br/>
            <a:r>
              <a:t>• Workato Agentic Automation</a:t>
            </a:r>
          </a:p>
        </p:txBody>
      </p:sp>
      <p:sp>
        <p:nvSpPr>
          <p:cNvPr id="14" name="Rounded Rectangle 13"/>
          <p:cNvSpPr/>
          <p:nvPr/>
        </p:nvSpPr>
        <p:spPr>
          <a:xfrm>
            <a:off x="4389120" y="2834640"/>
            <a:ext cx="3383280" cy="32918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944368"/>
            <a:ext cx="3017520" cy="411480"/>
          </a:xfrm>
          <a:prstGeom prst="rect">
            <a:avLst/>
          </a:prstGeom>
          <a:noFill/>
        </p:spPr>
        <p:txBody>
          <a:bodyPr wrap="square">
            <a:spAutoFit/>
          </a:bodyPr>
          <a:lstStyle/>
          <a:p>
            <a:pPr>
              <a:defRPr sz="1300" b="1">
                <a:solidFill>
                  <a:srgbClr val="FB7185"/>
                </a:solidFill>
              </a:defRPr>
            </a:pPr>
            <a:r>
              <a:t>Root Cause: Fear of Outages</a:t>
            </a:r>
          </a:p>
        </p:txBody>
      </p:sp>
      <p:sp>
        <p:nvSpPr>
          <p:cNvPr id="16" name="TextBox 15"/>
          <p:cNvSpPr txBox="1"/>
          <p:nvPr/>
        </p:nvSpPr>
        <p:spPr>
          <a:xfrm>
            <a:off x="4572000" y="3291840"/>
            <a:ext cx="3017520" cy="2651760"/>
          </a:xfrm>
          <a:prstGeom prst="rect">
            <a:avLst/>
          </a:prstGeom>
          <a:noFill/>
        </p:spPr>
        <p:txBody>
          <a:bodyPr wrap="square">
            <a:spAutoFit/>
          </a:bodyPr>
          <a:lstStyle/>
          <a:p>
            <a:pPr>
              <a:defRPr sz="1300">
                <a:solidFill>
                  <a:srgbClr val="FFFFFF"/>
                </a:solidFill>
              </a:defRPr>
            </a:pPr>
            <a:r>
              <a:t>IT teams don't revoke stale keys because blunt offboarding breaks CI/CD pipelines, cron jobs, and background daemons.</a:t>
            </a:r>
            <a:br/>
            <a:br/>
            <a:r>
              <a:t>Without mathematical safety proof, standing root keys linger for months.</a:t>
            </a:r>
          </a:p>
        </p:txBody>
      </p:sp>
      <p:sp>
        <p:nvSpPr>
          <p:cNvPr id="17" name="Rounded Rectangle 16"/>
          <p:cNvSpPr/>
          <p:nvPr/>
        </p:nvSpPr>
        <p:spPr>
          <a:xfrm>
            <a:off x="8046720" y="2834640"/>
            <a:ext cx="3383280" cy="32918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944368"/>
            <a:ext cx="3017520" cy="411480"/>
          </a:xfrm>
          <a:prstGeom prst="rect">
            <a:avLst/>
          </a:prstGeom>
          <a:noFill/>
        </p:spPr>
        <p:txBody>
          <a:bodyPr wrap="square">
            <a:spAutoFit/>
          </a:bodyPr>
          <a:lstStyle/>
          <a:p>
            <a:pPr>
              <a:defRPr sz="1300" b="1">
                <a:solidFill>
                  <a:srgbClr val="FBBF24"/>
                </a:solidFill>
              </a:defRPr>
            </a:pPr>
            <a:r>
              <a:t>Current Flawed Workflow</a:t>
            </a:r>
          </a:p>
        </p:txBody>
      </p:sp>
      <p:sp>
        <p:nvSpPr>
          <p:cNvPr id="19" name="TextBox 18"/>
          <p:cNvSpPr txBox="1"/>
          <p:nvPr/>
        </p:nvSpPr>
        <p:spPr>
          <a:xfrm>
            <a:off x="8229600" y="3291840"/>
            <a:ext cx="3017520" cy="2651760"/>
          </a:xfrm>
          <a:prstGeom prst="rect">
            <a:avLst/>
          </a:prstGeom>
          <a:noFill/>
        </p:spPr>
        <p:txBody>
          <a:bodyPr wrap="square">
            <a:spAutoFit/>
          </a:bodyPr>
          <a:lstStyle/>
          <a:p>
            <a:pPr>
              <a:defRPr sz="1300">
                <a:solidFill>
                  <a:srgbClr val="FFFFFF"/>
                </a:solidFill>
              </a:defRPr>
            </a:pPr>
            <a:r>
              <a:t>• Quarterly CSV spreadsheets</a:t>
            </a:r>
            <a:br/>
            <a:r>
              <a:t>• Slack DMs asking: 'Do you still need AWS root?'</a:t>
            </a:r>
            <a:br/>
            <a:r>
              <a:t>• 30+ days audit lag</a:t>
            </a:r>
            <a:br/>
            <a:r>
              <a:t>• High human error &amp; oversight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01  The Problem</a:t>
            </a:r>
          </a:p>
          <a:p>
            <a:pPr>
              <a:defRPr sz="2000" b="1">
                <a:solidFill>
                  <a:srgbClr val="FFFFFF"/>
                </a:solidFill>
              </a:defRPr>
            </a:pPr>
            <a:r>
              <a:t>Who Is Affected &amp; What Does It Cost Today?</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3 of 10</a:t>
            </a:r>
          </a:p>
        </p:txBody>
      </p:sp>
      <p:sp>
        <p:nvSpPr>
          <p:cNvPr id="8" name="Rounded Rectangle 7"/>
          <p:cNvSpPr/>
          <p:nvPr/>
        </p:nvSpPr>
        <p:spPr>
          <a:xfrm>
            <a:off x="731520" y="1280160"/>
            <a:ext cx="3383280" cy="246888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3017520" cy="411480"/>
          </a:xfrm>
          <a:prstGeom prst="rect">
            <a:avLst/>
          </a:prstGeom>
          <a:noFill/>
        </p:spPr>
        <p:txBody>
          <a:bodyPr wrap="square">
            <a:spAutoFit/>
          </a:bodyPr>
          <a:lstStyle/>
          <a:p>
            <a:pPr>
              <a:defRPr sz="1300" b="1">
                <a:solidFill>
                  <a:srgbClr val="FB7185"/>
                </a:solidFill>
              </a:defRPr>
            </a:pPr>
            <a:r>
              <a:t>SecOps &amp; CISO</a:t>
            </a:r>
          </a:p>
        </p:txBody>
      </p:sp>
      <p:sp>
        <p:nvSpPr>
          <p:cNvPr id="10" name="TextBox 9"/>
          <p:cNvSpPr txBox="1"/>
          <p:nvPr/>
        </p:nvSpPr>
        <p:spPr>
          <a:xfrm>
            <a:off x="914400" y="1737360"/>
            <a:ext cx="3017520" cy="1828800"/>
          </a:xfrm>
          <a:prstGeom prst="rect">
            <a:avLst/>
          </a:prstGeom>
          <a:noFill/>
        </p:spPr>
        <p:txBody>
          <a:bodyPr wrap="square">
            <a:spAutoFit/>
          </a:bodyPr>
          <a:lstStyle/>
          <a:p>
            <a:pPr>
              <a:defRPr sz="1300">
                <a:solidFill>
                  <a:srgbClr val="FFFFFF"/>
                </a:solidFill>
              </a:defRPr>
            </a:pPr>
            <a:r>
              <a:t>Face critical SOC2 CC6.1 &amp; ISO 27001 audit citations. Dormant administrative credentials present an open target for credential theft and lateral movement.</a:t>
            </a:r>
          </a:p>
        </p:txBody>
      </p:sp>
      <p:sp>
        <p:nvSpPr>
          <p:cNvPr id="11" name="Rounded Rectangle 10"/>
          <p:cNvSpPr/>
          <p:nvPr/>
        </p:nvSpPr>
        <p:spPr>
          <a:xfrm>
            <a:off x="4389120" y="1280160"/>
            <a:ext cx="3383280" cy="246888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389888"/>
            <a:ext cx="3017520" cy="411480"/>
          </a:xfrm>
          <a:prstGeom prst="rect">
            <a:avLst/>
          </a:prstGeom>
          <a:noFill/>
        </p:spPr>
        <p:txBody>
          <a:bodyPr wrap="square">
            <a:spAutoFit/>
          </a:bodyPr>
          <a:lstStyle/>
          <a:p>
            <a:pPr>
              <a:defRPr sz="1300" b="1">
                <a:solidFill>
                  <a:srgbClr val="FBBF24"/>
                </a:solidFill>
              </a:defRPr>
            </a:pPr>
            <a:r>
              <a:t>FinOps &amp; IT Budget Leads</a:t>
            </a:r>
          </a:p>
        </p:txBody>
      </p:sp>
      <p:sp>
        <p:nvSpPr>
          <p:cNvPr id="13" name="TextBox 12"/>
          <p:cNvSpPr txBox="1"/>
          <p:nvPr/>
        </p:nvSpPr>
        <p:spPr>
          <a:xfrm>
            <a:off x="4572000" y="1737360"/>
            <a:ext cx="3017520" cy="1828800"/>
          </a:xfrm>
          <a:prstGeom prst="rect">
            <a:avLst/>
          </a:prstGeom>
          <a:noFill/>
        </p:spPr>
        <p:txBody>
          <a:bodyPr wrap="square">
            <a:spAutoFit/>
          </a:bodyPr>
          <a:lstStyle/>
          <a:p>
            <a:pPr>
              <a:defRPr sz="1300">
                <a:solidFill>
                  <a:srgbClr val="FFFFFF"/>
                </a:solidFill>
              </a:defRPr>
            </a:pPr>
            <a:r>
              <a:t>Bleed enterprise budgets paying $1,476/mo per user for inactive AWS Root, Figma Enterprise, and Datadog admin accounts with 0 monthly edits.</a:t>
            </a:r>
          </a:p>
        </p:txBody>
      </p:sp>
      <p:sp>
        <p:nvSpPr>
          <p:cNvPr id="14" name="Rounded Rectangle 13"/>
          <p:cNvSpPr/>
          <p:nvPr/>
        </p:nvSpPr>
        <p:spPr>
          <a:xfrm>
            <a:off x="8046720" y="1280160"/>
            <a:ext cx="3383280" cy="246888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89888"/>
            <a:ext cx="3017520" cy="411480"/>
          </a:xfrm>
          <a:prstGeom prst="rect">
            <a:avLst/>
          </a:prstGeom>
          <a:noFill/>
        </p:spPr>
        <p:txBody>
          <a:bodyPr wrap="square">
            <a:spAutoFit/>
          </a:bodyPr>
          <a:lstStyle/>
          <a:p>
            <a:pPr>
              <a:defRPr sz="1300" b="1">
                <a:solidFill>
                  <a:srgbClr val="38BDF8"/>
                </a:solidFill>
              </a:defRPr>
            </a:pPr>
            <a:r>
              <a:t>Engineering &amp; IT Helpdesk</a:t>
            </a:r>
          </a:p>
        </p:txBody>
      </p:sp>
      <p:sp>
        <p:nvSpPr>
          <p:cNvPr id="16" name="TextBox 15"/>
          <p:cNvSpPr txBox="1"/>
          <p:nvPr/>
        </p:nvSpPr>
        <p:spPr>
          <a:xfrm>
            <a:off x="8229600" y="1737360"/>
            <a:ext cx="3017520" cy="1828800"/>
          </a:xfrm>
          <a:prstGeom prst="rect">
            <a:avLst/>
          </a:prstGeom>
          <a:noFill/>
        </p:spPr>
        <p:txBody>
          <a:bodyPr wrap="square">
            <a:spAutoFit/>
          </a:bodyPr>
          <a:lstStyle/>
          <a:p>
            <a:pPr>
              <a:defRPr sz="1300">
                <a:solidFill>
                  <a:srgbClr val="FFFFFF"/>
                </a:solidFill>
              </a:defRPr>
            </a:pPr>
            <a:r>
              <a:t>Engineers waste hours creating manual IT tickets for temporary elevation. IT spends 120+ hours per quarter reviewing spreadsheets.</a:t>
            </a:r>
          </a:p>
        </p:txBody>
      </p:sp>
      <p:sp>
        <p:nvSpPr>
          <p:cNvPr id="17" name="Rounded Rectangle 16"/>
          <p:cNvSpPr/>
          <p:nvPr/>
        </p:nvSpPr>
        <p:spPr>
          <a:xfrm>
            <a:off x="731520" y="4023360"/>
            <a:ext cx="1069848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133088"/>
            <a:ext cx="10332720" cy="411480"/>
          </a:xfrm>
          <a:prstGeom prst="rect">
            <a:avLst/>
          </a:prstGeom>
          <a:noFill/>
        </p:spPr>
        <p:txBody>
          <a:bodyPr wrap="square">
            <a:spAutoFit/>
          </a:bodyPr>
          <a:lstStyle/>
          <a:p>
            <a:pPr>
              <a:defRPr sz="1300" b="1">
                <a:solidFill>
                  <a:srgbClr val="00D4AA"/>
                </a:solidFill>
              </a:defRPr>
            </a:pPr>
            <a:r>
              <a:t>The Real-World Financial &amp; Risk Impact</a:t>
            </a:r>
          </a:p>
        </p:txBody>
      </p:sp>
      <p:sp>
        <p:nvSpPr>
          <p:cNvPr id="19" name="TextBox 18"/>
          <p:cNvSpPr txBox="1"/>
          <p:nvPr/>
        </p:nvSpPr>
        <p:spPr>
          <a:xfrm>
            <a:off x="914400" y="4526280"/>
            <a:ext cx="10332720" cy="1554480"/>
          </a:xfrm>
          <a:prstGeom prst="rect">
            <a:avLst/>
          </a:prstGeom>
          <a:noFill/>
        </p:spPr>
        <p:txBody>
          <a:bodyPr wrap="square">
            <a:spAutoFit/>
          </a:bodyPr>
          <a:lstStyle/>
          <a:p>
            <a:pPr>
              <a:defRPr sz="1400" b="1">
                <a:solidFill>
                  <a:srgbClr val="FFFFFF"/>
                </a:solidFill>
              </a:defRPr>
            </a:pPr>
            <a:r>
              <a:t>• Financial Drain: $55,500.00 / year in zombie license spend across just 5 monitored staff.</a:t>
            </a:r>
            <a:br/>
            <a:r>
              <a:t>• Compliance Penalty: Audit failure risk surges with 4 active toxic root credentials in the directory.</a:t>
            </a:r>
            <a:br/>
            <a:r>
              <a:t>• Breach Reality: 81% of cloud enterprise breaches exploit dormant, over-privileged access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02  Our Solution</a:t>
            </a:r>
          </a:p>
          <a:p>
            <a:pPr>
              <a:defRPr sz="2000" b="1">
                <a:solidFill>
                  <a:srgbClr val="FFFFFF"/>
                </a:solidFill>
              </a:defRPr>
            </a:pPr>
            <a:r>
              <a:t>What We Built Using Workato</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4 of 10</a:t>
            </a:r>
          </a:p>
        </p:txBody>
      </p:sp>
      <p:sp>
        <p:nvSpPr>
          <p:cNvPr id="8" name="Rounded Rectangle 7"/>
          <p:cNvSpPr/>
          <p:nvPr/>
        </p:nvSpPr>
        <p:spPr>
          <a:xfrm>
            <a:off x="731520" y="1280160"/>
            <a:ext cx="10698480" cy="12801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10332720" cy="411480"/>
          </a:xfrm>
          <a:prstGeom prst="rect">
            <a:avLst/>
          </a:prstGeom>
          <a:noFill/>
        </p:spPr>
        <p:txBody>
          <a:bodyPr wrap="square">
            <a:spAutoFit/>
          </a:bodyPr>
          <a:lstStyle/>
          <a:p>
            <a:pPr>
              <a:defRPr sz="1300" b="1">
                <a:solidFill>
                  <a:srgbClr val="00D4AA"/>
                </a:solidFill>
              </a:defRPr>
            </a:pPr>
            <a:r>
              <a:t>Solution Mission Statement</a:t>
            </a:r>
          </a:p>
        </p:txBody>
      </p:sp>
      <p:sp>
        <p:nvSpPr>
          <p:cNvPr id="10" name="TextBox 9"/>
          <p:cNvSpPr txBox="1"/>
          <p:nvPr/>
        </p:nvSpPr>
        <p:spPr>
          <a:xfrm>
            <a:off x="914400" y="1737360"/>
            <a:ext cx="10332720" cy="731520"/>
          </a:xfrm>
          <a:prstGeom prst="rect">
            <a:avLst/>
          </a:prstGeom>
          <a:noFill/>
        </p:spPr>
        <p:txBody>
          <a:bodyPr wrap="square">
            <a:spAutoFit/>
          </a:bodyPr>
          <a:lstStyle/>
          <a:p>
            <a:pPr>
              <a:defRPr sz="1400">
                <a:solidFill>
                  <a:srgbClr val="FFFFFF"/>
                </a:solidFill>
              </a:defRPr>
            </a:pPr>
            <a:r>
              <a:t>AegisZero is an autonomous 8-agent swarm built on Workato that detects role transitions, proves mathematically that credentials have 0% outage blast-radius, and autonomously executes batch database remediation and Slack ChatOps.</a:t>
            </a:r>
          </a:p>
        </p:txBody>
      </p:sp>
      <p:sp>
        <p:nvSpPr>
          <p:cNvPr id="11" name="Rounded Rectangle 10"/>
          <p:cNvSpPr/>
          <p:nvPr/>
        </p:nvSpPr>
        <p:spPr>
          <a:xfrm>
            <a:off x="731520" y="2834640"/>
            <a:ext cx="3383280" cy="32918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44368"/>
            <a:ext cx="3017520" cy="411480"/>
          </a:xfrm>
          <a:prstGeom prst="rect">
            <a:avLst/>
          </a:prstGeom>
          <a:noFill/>
        </p:spPr>
        <p:txBody>
          <a:bodyPr wrap="square">
            <a:spAutoFit/>
          </a:bodyPr>
          <a:lstStyle/>
          <a:p>
            <a:pPr>
              <a:defRPr sz="1300" b="1">
                <a:solidFill>
                  <a:srgbClr val="4ADE80"/>
                </a:solidFill>
              </a:defRPr>
            </a:pPr>
            <a:r>
              <a:t>1. Mathematical Safety Proof</a:t>
            </a:r>
          </a:p>
        </p:txBody>
      </p:sp>
      <p:sp>
        <p:nvSpPr>
          <p:cNvPr id="13" name="TextBox 12"/>
          <p:cNvSpPr txBox="1"/>
          <p:nvPr/>
        </p:nvSpPr>
        <p:spPr>
          <a:xfrm>
            <a:off x="914400" y="3337560"/>
            <a:ext cx="3017520" cy="2651760"/>
          </a:xfrm>
          <a:prstGeom prst="rect">
            <a:avLst/>
          </a:prstGeom>
          <a:noFill/>
        </p:spPr>
        <p:txBody>
          <a:bodyPr wrap="square">
            <a:spAutoFit/>
          </a:bodyPr>
          <a:lstStyle/>
          <a:p>
            <a:pPr>
              <a:defRPr sz="1300">
                <a:solidFill>
                  <a:srgbClr val="FFFFFF"/>
                </a:solidFill>
              </a:defRPr>
            </a:pPr>
            <a:r>
              <a:t>AST static analysis scans 42 CI/CD workflows and Docker scripts to confirm 0 hardcoded dependencies, verifying 0.0% outage blast radius before revoking standing access.</a:t>
            </a:r>
          </a:p>
        </p:txBody>
      </p:sp>
      <p:sp>
        <p:nvSpPr>
          <p:cNvPr id="14" name="Rounded Rectangle 13"/>
          <p:cNvSpPr/>
          <p:nvPr/>
        </p:nvSpPr>
        <p:spPr>
          <a:xfrm>
            <a:off x="4389120" y="2834640"/>
            <a:ext cx="3383280" cy="32918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944368"/>
            <a:ext cx="3017520" cy="411480"/>
          </a:xfrm>
          <a:prstGeom prst="rect">
            <a:avLst/>
          </a:prstGeom>
          <a:noFill/>
        </p:spPr>
        <p:txBody>
          <a:bodyPr wrap="square">
            <a:spAutoFit/>
          </a:bodyPr>
          <a:lstStyle/>
          <a:p>
            <a:pPr>
              <a:defRPr sz="1300" b="1">
                <a:solidFill>
                  <a:srgbClr val="00D4AA"/>
                </a:solidFill>
              </a:defRPr>
            </a:pPr>
            <a:r>
              <a:t>2. Multi-Record Database Engine</a:t>
            </a:r>
          </a:p>
        </p:txBody>
      </p:sp>
      <p:sp>
        <p:nvSpPr>
          <p:cNvPr id="16" name="TextBox 15"/>
          <p:cNvSpPr txBox="1"/>
          <p:nvPr/>
        </p:nvSpPr>
        <p:spPr>
          <a:xfrm>
            <a:off x="4572000" y="3337560"/>
            <a:ext cx="3017520" cy="2651760"/>
          </a:xfrm>
          <a:prstGeom prst="rect">
            <a:avLst/>
          </a:prstGeom>
          <a:noFill/>
        </p:spPr>
        <p:txBody>
          <a:bodyPr wrap="square">
            <a:spAutoFit/>
          </a:bodyPr>
          <a:lstStyle/>
          <a:p>
            <a:pPr>
              <a:defRPr sz="1300">
                <a:solidFill>
                  <a:srgbClr val="FFFFFF"/>
                </a:solidFill>
              </a:defRPr>
            </a:pPr>
            <a:r>
              <a:t>Workato Data Tables eliminates manual spreadsheets by managing a persistent live registry that batch-remediates all transferring squad members simultaneously.</a:t>
            </a:r>
          </a:p>
        </p:txBody>
      </p:sp>
      <p:sp>
        <p:nvSpPr>
          <p:cNvPr id="17" name="Rounded Rectangle 16"/>
          <p:cNvSpPr/>
          <p:nvPr/>
        </p:nvSpPr>
        <p:spPr>
          <a:xfrm>
            <a:off x="8046720" y="2834640"/>
            <a:ext cx="3383280" cy="329184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944368"/>
            <a:ext cx="3017520" cy="411480"/>
          </a:xfrm>
          <a:prstGeom prst="rect">
            <a:avLst/>
          </a:prstGeom>
          <a:noFill/>
        </p:spPr>
        <p:txBody>
          <a:bodyPr wrap="square">
            <a:spAutoFit/>
          </a:bodyPr>
          <a:lstStyle/>
          <a:p>
            <a:pPr>
              <a:defRPr sz="1300" b="1">
                <a:solidFill>
                  <a:srgbClr val="38BDF8"/>
                </a:solidFill>
              </a:defRPr>
            </a:pPr>
            <a:r>
              <a:t>3. Self-Healing ChatOps</a:t>
            </a:r>
          </a:p>
        </p:txBody>
      </p:sp>
      <p:sp>
        <p:nvSpPr>
          <p:cNvPr id="19" name="TextBox 18"/>
          <p:cNvSpPr txBox="1"/>
          <p:nvPr/>
        </p:nvSpPr>
        <p:spPr>
          <a:xfrm>
            <a:off x="8229600" y="3337560"/>
            <a:ext cx="3017520" cy="2651760"/>
          </a:xfrm>
          <a:prstGeom prst="rect">
            <a:avLst/>
          </a:prstGeom>
          <a:noFill/>
        </p:spPr>
        <p:txBody>
          <a:bodyPr wrap="square">
            <a:spAutoFit/>
          </a:bodyPr>
          <a:lstStyle/>
          <a:p>
            <a:pPr>
              <a:defRPr sz="1300">
                <a:solidFill>
                  <a:srgbClr val="FFFFFF"/>
                </a:solidFill>
              </a:defRPr>
            </a:pPr>
            <a:r>
              <a:t>Branded Slack cards empower employees with 1-click 4-hour Just-In-Time (JIT) restoration, eliminating IT support tickets while logging immutable SHA-256 audit trails.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02  Our Solution</a:t>
            </a:r>
          </a:p>
          <a:p>
            <a:pPr>
              <a:defRPr sz="2000" b="1">
                <a:solidFill>
                  <a:srgbClr val="FFFFFF"/>
                </a:solidFill>
              </a:defRPr>
            </a:pPr>
            <a:r>
              <a:t>The 8 Specialized Autonomous Swarm Agents</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5 of 10</a:t>
            </a:r>
          </a:p>
        </p:txBody>
      </p:sp>
      <p:sp>
        <p:nvSpPr>
          <p:cNvPr id="8" name="Rounded Rectangle 7"/>
          <p:cNvSpPr/>
          <p:nvPr/>
        </p:nvSpPr>
        <p:spPr>
          <a:xfrm>
            <a:off x="731520" y="1280160"/>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2194560" cy="411480"/>
          </a:xfrm>
          <a:prstGeom prst="rect">
            <a:avLst/>
          </a:prstGeom>
          <a:noFill/>
        </p:spPr>
        <p:txBody>
          <a:bodyPr wrap="square">
            <a:spAutoFit/>
          </a:bodyPr>
          <a:lstStyle/>
          <a:p>
            <a:pPr>
              <a:defRPr sz="1300" b="1">
                <a:solidFill>
                  <a:srgbClr val="00D4AA"/>
                </a:solidFill>
              </a:defRPr>
            </a:pPr>
            <a:r>
              <a:t>Agent 1: HR Context</a:t>
            </a:r>
          </a:p>
        </p:txBody>
      </p:sp>
      <p:sp>
        <p:nvSpPr>
          <p:cNvPr id="10" name="TextBox 9"/>
          <p:cNvSpPr txBox="1"/>
          <p:nvPr/>
        </p:nvSpPr>
        <p:spPr>
          <a:xfrm>
            <a:off x="868680" y="1828800"/>
            <a:ext cx="2286000" cy="1463040"/>
          </a:xfrm>
          <a:prstGeom prst="rect">
            <a:avLst/>
          </a:prstGeom>
          <a:noFill/>
        </p:spPr>
        <p:txBody>
          <a:bodyPr wrap="square">
            <a:spAutoFit/>
          </a:bodyPr>
          <a:lstStyle/>
          <a:p>
            <a:pPr>
              <a:defRPr sz="1200">
                <a:solidFill>
                  <a:srgbClr val="FFFFFF"/>
                </a:solidFill>
              </a:defRPr>
            </a:pPr>
            <a:r>
              <a:t>Tracks squad moves &amp; drift days</a:t>
            </a:r>
          </a:p>
        </p:txBody>
      </p:sp>
      <p:sp>
        <p:nvSpPr>
          <p:cNvPr id="11" name="Rounded Rectangle 10"/>
          <p:cNvSpPr/>
          <p:nvPr/>
        </p:nvSpPr>
        <p:spPr>
          <a:xfrm>
            <a:off x="3429000" y="1280160"/>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389888"/>
            <a:ext cx="2194560" cy="411480"/>
          </a:xfrm>
          <a:prstGeom prst="rect">
            <a:avLst/>
          </a:prstGeom>
          <a:noFill/>
        </p:spPr>
        <p:txBody>
          <a:bodyPr wrap="square">
            <a:spAutoFit/>
          </a:bodyPr>
          <a:lstStyle/>
          <a:p>
            <a:pPr>
              <a:defRPr sz="1300" b="1">
                <a:solidFill>
                  <a:srgbClr val="FBBF24"/>
                </a:solidFill>
              </a:defRPr>
            </a:pPr>
            <a:r>
              <a:t>Agent 2: Work Entropy</a:t>
            </a:r>
          </a:p>
        </p:txBody>
      </p:sp>
      <p:sp>
        <p:nvSpPr>
          <p:cNvPr id="13" name="TextBox 12"/>
          <p:cNvSpPr txBox="1"/>
          <p:nvPr/>
        </p:nvSpPr>
        <p:spPr>
          <a:xfrm>
            <a:off x="3566160" y="1828800"/>
            <a:ext cx="2286000" cy="1463040"/>
          </a:xfrm>
          <a:prstGeom prst="rect">
            <a:avLst/>
          </a:prstGeom>
          <a:noFill/>
        </p:spPr>
        <p:txBody>
          <a:bodyPr wrap="square">
            <a:spAutoFit/>
          </a:bodyPr>
          <a:lstStyle/>
          <a:p>
            <a:pPr>
              <a:defRPr sz="1200">
                <a:solidFill>
                  <a:srgbClr val="FFFFFF"/>
                </a:solidFill>
              </a:defRPr>
            </a:pPr>
            <a:r>
              <a:t>Audits Git &amp; write ratios vs browse</a:t>
            </a:r>
          </a:p>
        </p:txBody>
      </p:sp>
      <p:sp>
        <p:nvSpPr>
          <p:cNvPr id="14" name="Rounded Rectangle 13"/>
          <p:cNvSpPr/>
          <p:nvPr/>
        </p:nvSpPr>
        <p:spPr>
          <a:xfrm>
            <a:off x="6126480" y="1280160"/>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389888"/>
            <a:ext cx="2194560" cy="411480"/>
          </a:xfrm>
          <a:prstGeom prst="rect">
            <a:avLst/>
          </a:prstGeom>
          <a:noFill/>
        </p:spPr>
        <p:txBody>
          <a:bodyPr wrap="square">
            <a:spAutoFit/>
          </a:bodyPr>
          <a:lstStyle/>
          <a:p>
            <a:pPr>
              <a:defRPr sz="1300" b="1">
                <a:solidFill>
                  <a:srgbClr val="4ADE80"/>
                </a:solidFill>
              </a:defRPr>
            </a:pPr>
            <a:r>
              <a:t>Agent 3: Blast-Radius</a:t>
            </a:r>
          </a:p>
        </p:txBody>
      </p:sp>
      <p:sp>
        <p:nvSpPr>
          <p:cNvPr id="16" name="TextBox 15"/>
          <p:cNvSpPr txBox="1"/>
          <p:nvPr/>
        </p:nvSpPr>
        <p:spPr>
          <a:xfrm>
            <a:off x="6263640" y="1828800"/>
            <a:ext cx="2286000" cy="1463040"/>
          </a:xfrm>
          <a:prstGeom prst="rect">
            <a:avLst/>
          </a:prstGeom>
          <a:noFill/>
        </p:spPr>
        <p:txBody>
          <a:bodyPr wrap="square">
            <a:spAutoFit/>
          </a:bodyPr>
          <a:lstStyle/>
          <a:p>
            <a:pPr>
              <a:defRPr sz="1200">
                <a:solidFill>
                  <a:srgbClr val="FFFFFF"/>
                </a:solidFill>
              </a:defRPr>
            </a:pPr>
            <a:r>
              <a:t>AST proves 0.0% pipeline outage risk</a:t>
            </a:r>
          </a:p>
        </p:txBody>
      </p:sp>
      <p:sp>
        <p:nvSpPr>
          <p:cNvPr id="17" name="Rounded Rectangle 16"/>
          <p:cNvSpPr/>
          <p:nvPr/>
        </p:nvSpPr>
        <p:spPr>
          <a:xfrm>
            <a:off x="8823960" y="1280160"/>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1389888"/>
            <a:ext cx="2194560" cy="411480"/>
          </a:xfrm>
          <a:prstGeom prst="rect">
            <a:avLst/>
          </a:prstGeom>
          <a:noFill/>
        </p:spPr>
        <p:txBody>
          <a:bodyPr wrap="square">
            <a:spAutoFit/>
          </a:bodyPr>
          <a:lstStyle/>
          <a:p>
            <a:pPr>
              <a:defRPr sz="1300" b="1">
                <a:solidFill>
                  <a:srgbClr val="00D4AA"/>
                </a:solidFill>
              </a:defRPr>
            </a:pPr>
            <a:r>
              <a:t>Agent 4: FinOps Arbitrage</a:t>
            </a:r>
          </a:p>
        </p:txBody>
      </p:sp>
      <p:sp>
        <p:nvSpPr>
          <p:cNvPr id="19" name="TextBox 18"/>
          <p:cNvSpPr txBox="1"/>
          <p:nvPr/>
        </p:nvSpPr>
        <p:spPr>
          <a:xfrm>
            <a:off x="8961120" y="1828800"/>
            <a:ext cx="2286000" cy="1463040"/>
          </a:xfrm>
          <a:prstGeom prst="rect">
            <a:avLst/>
          </a:prstGeom>
          <a:noFill/>
        </p:spPr>
        <p:txBody>
          <a:bodyPr wrap="square">
            <a:spAutoFit/>
          </a:bodyPr>
          <a:lstStyle/>
          <a:p>
            <a:pPr>
              <a:defRPr sz="1200">
                <a:solidFill>
                  <a:srgbClr val="FFFFFF"/>
                </a:solidFill>
              </a:defRPr>
            </a:pPr>
            <a:r>
              <a:t>Calculates graceful tier downgrades</a:t>
            </a:r>
          </a:p>
        </p:txBody>
      </p:sp>
      <p:sp>
        <p:nvSpPr>
          <p:cNvPr id="20" name="Rounded Rectangle 19"/>
          <p:cNvSpPr/>
          <p:nvPr/>
        </p:nvSpPr>
        <p:spPr>
          <a:xfrm>
            <a:off x="731520" y="3749039"/>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58767"/>
            <a:ext cx="2194560" cy="411480"/>
          </a:xfrm>
          <a:prstGeom prst="rect">
            <a:avLst/>
          </a:prstGeom>
          <a:noFill/>
        </p:spPr>
        <p:txBody>
          <a:bodyPr wrap="square">
            <a:spAutoFit/>
          </a:bodyPr>
          <a:lstStyle/>
          <a:p>
            <a:pPr>
              <a:defRPr sz="1300" b="1">
                <a:solidFill>
                  <a:srgbClr val="FB7185"/>
                </a:solidFill>
              </a:defRPr>
            </a:pPr>
            <a:r>
              <a:t>Agent 5: SOC2 Compliance</a:t>
            </a:r>
          </a:p>
        </p:txBody>
      </p:sp>
      <p:sp>
        <p:nvSpPr>
          <p:cNvPr id="22" name="TextBox 21"/>
          <p:cNvSpPr txBox="1"/>
          <p:nvPr/>
        </p:nvSpPr>
        <p:spPr>
          <a:xfrm>
            <a:off x="868680" y="4297679"/>
            <a:ext cx="2286000" cy="1463040"/>
          </a:xfrm>
          <a:prstGeom prst="rect">
            <a:avLst/>
          </a:prstGeom>
          <a:noFill/>
        </p:spPr>
        <p:txBody>
          <a:bodyPr wrap="square">
            <a:spAutoFit/>
          </a:bodyPr>
          <a:lstStyle/>
          <a:p>
            <a:pPr>
              <a:defRPr sz="1200">
                <a:solidFill>
                  <a:srgbClr val="FFFFFF"/>
                </a:solidFill>
              </a:defRPr>
            </a:pPr>
            <a:r>
              <a:t>Enforces least-privilege citations</a:t>
            </a:r>
          </a:p>
        </p:txBody>
      </p:sp>
      <p:sp>
        <p:nvSpPr>
          <p:cNvPr id="23" name="Rounded Rectangle 22"/>
          <p:cNvSpPr/>
          <p:nvPr/>
        </p:nvSpPr>
        <p:spPr>
          <a:xfrm>
            <a:off x="3429000" y="3749039"/>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3858767"/>
            <a:ext cx="2194560" cy="411480"/>
          </a:xfrm>
          <a:prstGeom prst="rect">
            <a:avLst/>
          </a:prstGeom>
          <a:noFill/>
        </p:spPr>
        <p:txBody>
          <a:bodyPr wrap="square">
            <a:spAutoFit/>
          </a:bodyPr>
          <a:lstStyle/>
          <a:p>
            <a:pPr>
              <a:defRPr sz="1300" b="1">
                <a:solidFill>
                  <a:srgbClr val="38BDF8"/>
                </a:solidFill>
              </a:defRPr>
            </a:pPr>
            <a:r>
              <a:t>Agent 6: JIT &amp; SCIM Synth</a:t>
            </a:r>
          </a:p>
        </p:txBody>
      </p:sp>
      <p:sp>
        <p:nvSpPr>
          <p:cNvPr id="25" name="TextBox 24"/>
          <p:cNvSpPr txBox="1"/>
          <p:nvPr/>
        </p:nvSpPr>
        <p:spPr>
          <a:xfrm>
            <a:off x="3566160" y="4297679"/>
            <a:ext cx="2286000" cy="1463040"/>
          </a:xfrm>
          <a:prstGeom prst="rect">
            <a:avLst/>
          </a:prstGeom>
          <a:noFill/>
        </p:spPr>
        <p:txBody>
          <a:bodyPr wrap="square">
            <a:spAutoFit/>
          </a:bodyPr>
          <a:lstStyle/>
          <a:p>
            <a:pPr>
              <a:defRPr sz="1200">
                <a:solidFill>
                  <a:srgbClr val="FFFFFF"/>
                </a:solidFill>
              </a:defRPr>
            </a:pPr>
            <a:r>
              <a:t>Generates STS assume-role payloads</a:t>
            </a:r>
          </a:p>
        </p:txBody>
      </p:sp>
      <p:sp>
        <p:nvSpPr>
          <p:cNvPr id="26" name="Rounded Rectangle 25"/>
          <p:cNvSpPr/>
          <p:nvPr/>
        </p:nvSpPr>
        <p:spPr>
          <a:xfrm>
            <a:off x="6126480" y="3749039"/>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3858767"/>
            <a:ext cx="2194560" cy="411480"/>
          </a:xfrm>
          <a:prstGeom prst="rect">
            <a:avLst/>
          </a:prstGeom>
          <a:noFill/>
        </p:spPr>
        <p:txBody>
          <a:bodyPr wrap="square">
            <a:spAutoFit/>
          </a:bodyPr>
          <a:lstStyle/>
          <a:p>
            <a:pPr>
              <a:defRPr sz="1300" b="1">
                <a:solidFill>
                  <a:srgbClr val="38BDF8"/>
                </a:solidFill>
              </a:defRPr>
            </a:pPr>
            <a:r>
              <a:t>Agent 7: Slack Bot Comms</a:t>
            </a:r>
          </a:p>
        </p:txBody>
      </p:sp>
      <p:sp>
        <p:nvSpPr>
          <p:cNvPr id="28" name="TextBox 27"/>
          <p:cNvSpPr txBox="1"/>
          <p:nvPr/>
        </p:nvSpPr>
        <p:spPr>
          <a:xfrm>
            <a:off x="6263640" y="4297679"/>
            <a:ext cx="2286000" cy="1463040"/>
          </a:xfrm>
          <a:prstGeom prst="rect">
            <a:avLst/>
          </a:prstGeom>
          <a:noFill/>
        </p:spPr>
        <p:txBody>
          <a:bodyPr wrap="square">
            <a:spAutoFit/>
          </a:bodyPr>
          <a:lstStyle/>
          <a:p>
            <a:pPr>
              <a:defRPr sz="1200">
                <a:solidFill>
                  <a:srgbClr val="FFFFFF"/>
                </a:solidFill>
              </a:defRPr>
            </a:pPr>
            <a:r>
              <a:t>Dispatches interactive ChatOps cards</a:t>
            </a:r>
          </a:p>
        </p:txBody>
      </p:sp>
      <p:sp>
        <p:nvSpPr>
          <p:cNvPr id="29" name="Rounded Rectangle 28"/>
          <p:cNvSpPr/>
          <p:nvPr/>
        </p:nvSpPr>
        <p:spPr>
          <a:xfrm>
            <a:off x="8823960" y="3749039"/>
            <a:ext cx="25603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3858767"/>
            <a:ext cx="2194560" cy="411480"/>
          </a:xfrm>
          <a:prstGeom prst="rect">
            <a:avLst/>
          </a:prstGeom>
          <a:noFill/>
        </p:spPr>
        <p:txBody>
          <a:bodyPr wrap="square">
            <a:spAutoFit/>
          </a:bodyPr>
          <a:lstStyle/>
          <a:p>
            <a:pPr>
              <a:defRPr sz="1300" b="1">
                <a:solidFill>
                  <a:srgbClr val="4ADE80"/>
                </a:solidFill>
              </a:defRPr>
            </a:pPr>
            <a:r>
              <a:t>Agent 8: Audit Scribe</a:t>
            </a:r>
          </a:p>
        </p:txBody>
      </p:sp>
      <p:sp>
        <p:nvSpPr>
          <p:cNvPr id="31" name="TextBox 30"/>
          <p:cNvSpPr txBox="1"/>
          <p:nvPr/>
        </p:nvSpPr>
        <p:spPr>
          <a:xfrm>
            <a:off x="8961120" y="4297679"/>
            <a:ext cx="2286000" cy="1463040"/>
          </a:xfrm>
          <a:prstGeom prst="rect">
            <a:avLst/>
          </a:prstGeom>
          <a:noFill/>
        </p:spPr>
        <p:txBody>
          <a:bodyPr wrap="square">
            <a:spAutoFit/>
          </a:bodyPr>
          <a:lstStyle/>
          <a:p>
            <a:pPr>
              <a:defRPr sz="1200">
                <a:solidFill>
                  <a:srgbClr val="FFFFFF"/>
                </a:solidFill>
              </a:defRPr>
            </a:pPr>
            <a:r>
              <a:t>Cryptographically signs SHA-256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Workato Architecture</a:t>
            </a:r>
          </a:p>
          <a:p>
            <a:pPr>
              <a:defRPr sz="2000" b="1">
                <a:solidFill>
                  <a:srgbClr val="FFFFFF"/>
                </a:solidFill>
              </a:defRPr>
            </a:pPr>
            <a:r>
              <a:t>How the Solution Is Built on the Workato Stack</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6 of 10</a:t>
            </a:r>
          </a:p>
        </p:txBody>
      </p:sp>
      <p:sp>
        <p:nvSpPr>
          <p:cNvPr id="8" name="Rounded Rectangle 7"/>
          <p:cNvSpPr/>
          <p:nvPr/>
        </p:nvSpPr>
        <p:spPr>
          <a:xfrm>
            <a:off x="731520" y="1280160"/>
            <a:ext cx="676656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6400800" cy="411480"/>
          </a:xfrm>
          <a:prstGeom prst="rect">
            <a:avLst/>
          </a:prstGeom>
          <a:noFill/>
        </p:spPr>
        <p:txBody>
          <a:bodyPr wrap="square">
            <a:spAutoFit/>
          </a:bodyPr>
          <a:lstStyle/>
          <a:p>
            <a:pPr>
              <a:defRPr sz="1300" b="1">
                <a:solidFill>
                  <a:srgbClr val="00D4AA"/>
                </a:solidFill>
              </a:defRPr>
            </a:pPr>
            <a:r>
              <a:t>End-to-End Orchestration Architecture</a:t>
            </a:r>
          </a:p>
        </p:txBody>
      </p:sp>
      <p:sp>
        <p:nvSpPr>
          <p:cNvPr id="10" name="TextBox 9"/>
          <p:cNvSpPr txBox="1"/>
          <p:nvPr/>
        </p:nvSpPr>
        <p:spPr>
          <a:xfrm>
            <a:off x="914400" y="1828800"/>
            <a:ext cx="6400800" cy="4114800"/>
          </a:xfrm>
          <a:prstGeom prst="rect">
            <a:avLst/>
          </a:prstGeom>
          <a:noFill/>
        </p:spPr>
        <p:txBody>
          <a:bodyPr wrap="square">
            <a:spAutoFit/>
          </a:bodyPr>
          <a:lstStyle/>
          <a:p>
            <a:pPr>
              <a:defRPr sz="1200">
                <a:solidFill>
                  <a:srgbClr val="FFFFFF"/>
                </a:solidFill>
              </a:defRPr>
            </a:pPr>
            <a:r>
              <a:t>1. Vercel Cockpit Frontend (Live: https://aegiszero-cockpit.vercel.app)</a:t>
            </a:r>
            <a:br/>
            <a:r>
              <a:t>   User fires 8-agent swarm ➔ Asynchronously POSTs JSON payload.</a:t>
            </a:r>
            <a:br/>
            <a:br/>
            <a:r>
              <a:t>2. Workato Trigger: Catch Webhook</a:t>
            </a:r>
            <a:br/>
            <a:r>
              <a:t>   Receives employee array, drift metrics, and SOC2 attestation.</a:t>
            </a:r>
            <a:br/>
            <a:br/>
            <a:r>
              <a:t>3. Workato Data Tables (Enterprise_Identities)</a:t>
            </a:r>
            <a:br/>
            <a:r>
              <a:t>   Executes batch updates: access_status = REVOKED, admin_keys = 0.</a:t>
            </a:r>
            <a:br/>
            <a:br/>
            <a:r>
              <a:t>4. Workato Slack Connector: Post Message</a:t>
            </a:r>
            <a:br/>
            <a:r>
              <a:t>   Publishes AegisZero Security Swarm alert card to #security-alerts.</a:t>
            </a:r>
            <a:br/>
            <a:br/>
            <a:r>
              <a:t>5. Workato Email Connector: Send Email</a:t>
            </a:r>
            <a:br/>
            <a:r>
              <a:t>   Dispatches official zero-trust offboarding notice to david@gmail.com.</a:t>
            </a:r>
            <a:br/>
            <a:br/>
            <a:r>
              <a:t>6. Return Webhook Response</a:t>
            </a:r>
            <a:br/>
            <a:r>
              <a:t>   Returns HTTP 200 OK with annual savings and verified status.</a:t>
            </a:r>
          </a:p>
        </p:txBody>
      </p:sp>
      <p:sp>
        <p:nvSpPr>
          <p:cNvPr id="11" name="Rounded Rectangle 10"/>
          <p:cNvSpPr/>
          <p:nvPr/>
        </p:nvSpPr>
        <p:spPr>
          <a:xfrm>
            <a:off x="7680960" y="1280160"/>
            <a:ext cx="3749039"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1389888"/>
            <a:ext cx="3383279" cy="411480"/>
          </a:xfrm>
          <a:prstGeom prst="rect">
            <a:avLst/>
          </a:prstGeom>
          <a:noFill/>
        </p:spPr>
        <p:txBody>
          <a:bodyPr wrap="square">
            <a:spAutoFit/>
          </a:bodyPr>
          <a:lstStyle/>
          <a:p>
            <a:pPr>
              <a:defRPr sz="1300" b="1">
                <a:solidFill>
                  <a:srgbClr val="38BDF8"/>
                </a:solidFill>
              </a:defRPr>
            </a:pPr>
            <a:r>
              <a:t>Workato Stack Layers</a:t>
            </a:r>
          </a:p>
        </p:txBody>
      </p:sp>
      <p:sp>
        <p:nvSpPr>
          <p:cNvPr id="13" name="TextBox 12"/>
          <p:cNvSpPr txBox="1"/>
          <p:nvPr/>
        </p:nvSpPr>
        <p:spPr>
          <a:xfrm>
            <a:off x="7863840" y="1828800"/>
            <a:ext cx="3383280" cy="4114800"/>
          </a:xfrm>
          <a:prstGeom prst="rect">
            <a:avLst/>
          </a:prstGeom>
          <a:noFill/>
        </p:spPr>
        <p:txBody>
          <a:bodyPr wrap="square">
            <a:spAutoFit/>
          </a:bodyPr>
          <a:lstStyle/>
          <a:p>
            <a:pPr>
              <a:defRPr sz="1200">
                <a:solidFill>
                  <a:srgbClr val="FFFFFF"/>
                </a:solidFill>
              </a:defRPr>
            </a:pPr>
            <a:r>
              <a:t>• Orchestration Layer:</a:t>
            </a:r>
            <a:br/>
            <a:r>
              <a:t>  Recipe #82962492 (Backend API &amp; Slack Dispatcher).</a:t>
            </a:r>
            <a:br/>
            <a:br/>
            <a:r>
              <a:t>• Data Storage Layer:</a:t>
            </a:r>
            <a:br/>
            <a:r>
              <a:t>  Workato Data Tables (Enterprise_Identities CSV import).</a:t>
            </a:r>
            <a:br/>
            <a:br/>
            <a:r>
              <a:t>• ChatOps Layer:</a:t>
            </a:r>
            <a:br/>
            <a:r>
              <a:t>  Slack Connector with AegisZero custom bot persona.</a:t>
            </a:r>
            <a:br/>
            <a:br/>
            <a:r>
              <a:t>• Messaging Layer:</a:t>
            </a:r>
            <a:br/>
            <a:r>
              <a:t>  Email by Workato.</a:t>
            </a:r>
            <a:br/>
            <a:br/>
            <a:r>
              <a:t>• API Layer:</a:t>
            </a:r>
            <a:br/>
            <a:r>
              <a:t>  REST Webhook Trigger &amp; Response.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Workato Stack Deep-Dive</a:t>
            </a:r>
          </a:p>
          <a:p>
            <a:pPr>
              <a:defRPr sz="2000" b="1">
                <a:solidFill>
                  <a:srgbClr val="FFFFFF"/>
                </a:solidFill>
              </a:defRPr>
            </a:pPr>
            <a:r>
              <a:t>Workato Components Used in AegisZero</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7 of 10</a:t>
            </a:r>
          </a:p>
        </p:txBody>
      </p:sp>
      <p:sp>
        <p:nvSpPr>
          <p:cNvPr id="8" name="Rounded Rectangle 7"/>
          <p:cNvSpPr/>
          <p:nvPr/>
        </p:nvSpPr>
        <p:spPr>
          <a:xfrm>
            <a:off x="731520" y="1280160"/>
            <a:ext cx="34747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3108960" cy="411480"/>
          </a:xfrm>
          <a:prstGeom prst="rect">
            <a:avLst/>
          </a:prstGeom>
          <a:noFill/>
        </p:spPr>
        <p:txBody>
          <a:bodyPr wrap="square">
            <a:spAutoFit/>
          </a:bodyPr>
          <a:lstStyle/>
          <a:p>
            <a:pPr>
              <a:defRPr sz="1300" b="1">
                <a:solidFill>
                  <a:srgbClr val="00D4AA"/>
                </a:solidFill>
              </a:defRPr>
            </a:pPr>
            <a:r>
              <a:t>Orchestrator (Recipes)</a:t>
            </a:r>
          </a:p>
        </p:txBody>
      </p:sp>
      <p:sp>
        <p:nvSpPr>
          <p:cNvPr id="10" name="TextBox 9"/>
          <p:cNvSpPr txBox="1"/>
          <p:nvPr/>
        </p:nvSpPr>
        <p:spPr>
          <a:xfrm>
            <a:off x="914400" y="1874520"/>
            <a:ext cx="3108960" cy="1463040"/>
          </a:xfrm>
          <a:prstGeom prst="rect">
            <a:avLst/>
          </a:prstGeom>
          <a:noFill/>
        </p:spPr>
        <p:txBody>
          <a:bodyPr wrap="square">
            <a:spAutoFit/>
          </a:bodyPr>
          <a:lstStyle/>
          <a:p>
            <a:pPr>
              <a:defRPr sz="1300">
                <a:solidFill>
                  <a:srgbClr val="FFFFFF"/>
                </a:solidFill>
              </a:defRPr>
            </a:pPr>
            <a:r>
              <a:t>Event-driven serverless workflow engine connecting Vercel, Data Tables, Slack, and Email with instant sub-second execution.</a:t>
            </a:r>
          </a:p>
        </p:txBody>
      </p:sp>
      <p:sp>
        <p:nvSpPr>
          <p:cNvPr id="11" name="Rounded Rectangle 10"/>
          <p:cNvSpPr/>
          <p:nvPr/>
        </p:nvSpPr>
        <p:spPr>
          <a:xfrm>
            <a:off x="4343400" y="1280160"/>
            <a:ext cx="34747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389888"/>
            <a:ext cx="3108960" cy="411480"/>
          </a:xfrm>
          <a:prstGeom prst="rect">
            <a:avLst/>
          </a:prstGeom>
          <a:noFill/>
        </p:spPr>
        <p:txBody>
          <a:bodyPr wrap="square">
            <a:spAutoFit/>
          </a:bodyPr>
          <a:lstStyle/>
          <a:p>
            <a:pPr>
              <a:defRPr sz="1300" b="1">
                <a:solidFill>
                  <a:srgbClr val="38BDF8"/>
                </a:solidFill>
              </a:defRPr>
            </a:pPr>
            <a:r>
              <a:t>Workato Data Tables</a:t>
            </a:r>
          </a:p>
        </p:txBody>
      </p:sp>
      <p:sp>
        <p:nvSpPr>
          <p:cNvPr id="13" name="TextBox 12"/>
          <p:cNvSpPr txBox="1"/>
          <p:nvPr/>
        </p:nvSpPr>
        <p:spPr>
          <a:xfrm>
            <a:off x="4526280" y="1874520"/>
            <a:ext cx="3108960" cy="1463040"/>
          </a:xfrm>
          <a:prstGeom prst="rect">
            <a:avLst/>
          </a:prstGeom>
          <a:noFill/>
        </p:spPr>
        <p:txBody>
          <a:bodyPr wrap="square">
            <a:spAutoFit/>
          </a:bodyPr>
          <a:lstStyle/>
          <a:p>
            <a:pPr>
              <a:defRPr sz="1300">
                <a:solidFill>
                  <a:srgbClr val="FFFFFF"/>
                </a:solidFill>
              </a:defRPr>
            </a:pPr>
            <a:r>
              <a:t>Embedded relational database engine supporting persistent enterprise identity records and batch multi-record remediation.</a:t>
            </a:r>
          </a:p>
        </p:txBody>
      </p:sp>
      <p:sp>
        <p:nvSpPr>
          <p:cNvPr id="14" name="Rounded Rectangle 13"/>
          <p:cNvSpPr/>
          <p:nvPr/>
        </p:nvSpPr>
        <p:spPr>
          <a:xfrm>
            <a:off x="7955280" y="1280160"/>
            <a:ext cx="34747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389888"/>
            <a:ext cx="3108960" cy="411480"/>
          </a:xfrm>
          <a:prstGeom prst="rect">
            <a:avLst/>
          </a:prstGeom>
          <a:noFill/>
        </p:spPr>
        <p:txBody>
          <a:bodyPr wrap="square">
            <a:spAutoFit/>
          </a:bodyPr>
          <a:lstStyle/>
          <a:p>
            <a:pPr>
              <a:defRPr sz="1300" b="1">
                <a:solidFill>
                  <a:srgbClr val="00D4AA"/>
                </a:solidFill>
              </a:defRPr>
            </a:pPr>
            <a:r>
              <a:t>Webhooks Connector</a:t>
            </a:r>
          </a:p>
        </p:txBody>
      </p:sp>
      <p:sp>
        <p:nvSpPr>
          <p:cNvPr id="16" name="TextBox 15"/>
          <p:cNvSpPr txBox="1"/>
          <p:nvPr/>
        </p:nvSpPr>
        <p:spPr>
          <a:xfrm>
            <a:off x="8138160" y="1874520"/>
            <a:ext cx="3108960" cy="1463040"/>
          </a:xfrm>
          <a:prstGeom prst="rect">
            <a:avLst/>
          </a:prstGeom>
          <a:noFill/>
        </p:spPr>
        <p:txBody>
          <a:bodyPr wrap="square">
            <a:spAutoFit/>
          </a:bodyPr>
          <a:lstStyle/>
          <a:p>
            <a:pPr>
              <a:defRPr sz="1300">
                <a:solidFill>
                  <a:srgbClr val="FFFFFF"/>
                </a:solidFill>
              </a:defRPr>
            </a:pPr>
            <a:r>
              <a:t>Bidirectional REST gateway providing a public HTTPS endpoint for the Vercel frontend cockpit.</a:t>
            </a:r>
          </a:p>
        </p:txBody>
      </p:sp>
      <p:sp>
        <p:nvSpPr>
          <p:cNvPr id="17" name="Rounded Rectangle 16"/>
          <p:cNvSpPr/>
          <p:nvPr/>
        </p:nvSpPr>
        <p:spPr>
          <a:xfrm>
            <a:off x="731520" y="3749039"/>
            <a:ext cx="34747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58767"/>
            <a:ext cx="3108960" cy="411480"/>
          </a:xfrm>
          <a:prstGeom prst="rect">
            <a:avLst/>
          </a:prstGeom>
          <a:noFill/>
        </p:spPr>
        <p:txBody>
          <a:bodyPr wrap="square">
            <a:spAutoFit/>
          </a:bodyPr>
          <a:lstStyle/>
          <a:p>
            <a:pPr>
              <a:defRPr sz="1300" b="1">
                <a:solidFill>
                  <a:srgbClr val="4ADE80"/>
                </a:solidFill>
              </a:defRPr>
            </a:pPr>
            <a:r>
              <a:t>Slack Connector</a:t>
            </a:r>
          </a:p>
        </p:txBody>
      </p:sp>
      <p:sp>
        <p:nvSpPr>
          <p:cNvPr id="19" name="TextBox 18"/>
          <p:cNvSpPr txBox="1"/>
          <p:nvPr/>
        </p:nvSpPr>
        <p:spPr>
          <a:xfrm>
            <a:off x="914400" y="4343399"/>
            <a:ext cx="3108960" cy="1463040"/>
          </a:xfrm>
          <a:prstGeom prst="rect">
            <a:avLst/>
          </a:prstGeom>
          <a:noFill/>
        </p:spPr>
        <p:txBody>
          <a:bodyPr wrap="square">
            <a:spAutoFit/>
          </a:bodyPr>
          <a:lstStyle/>
          <a:p>
            <a:pPr>
              <a:defRPr sz="1300">
                <a:solidFill>
                  <a:srgbClr val="FFFFFF"/>
                </a:solidFill>
              </a:defRPr>
            </a:pPr>
            <a:r>
              <a:t>ChatOps engine publishing formatted security cards with interactive 4-hr JIT elevation controls.</a:t>
            </a:r>
          </a:p>
        </p:txBody>
      </p:sp>
      <p:sp>
        <p:nvSpPr>
          <p:cNvPr id="20" name="Rounded Rectangle 19"/>
          <p:cNvSpPr/>
          <p:nvPr/>
        </p:nvSpPr>
        <p:spPr>
          <a:xfrm>
            <a:off x="4343400" y="3749039"/>
            <a:ext cx="34747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3858767"/>
            <a:ext cx="3108960" cy="411480"/>
          </a:xfrm>
          <a:prstGeom prst="rect">
            <a:avLst/>
          </a:prstGeom>
          <a:noFill/>
        </p:spPr>
        <p:txBody>
          <a:bodyPr wrap="square">
            <a:spAutoFit/>
          </a:bodyPr>
          <a:lstStyle/>
          <a:p>
            <a:pPr>
              <a:defRPr sz="1300" b="1">
                <a:solidFill>
                  <a:srgbClr val="FBBF24"/>
                </a:solidFill>
              </a:defRPr>
            </a:pPr>
            <a:r>
              <a:t>Email by Workato</a:t>
            </a:r>
          </a:p>
        </p:txBody>
      </p:sp>
      <p:sp>
        <p:nvSpPr>
          <p:cNvPr id="22" name="TextBox 21"/>
          <p:cNvSpPr txBox="1"/>
          <p:nvPr/>
        </p:nvSpPr>
        <p:spPr>
          <a:xfrm>
            <a:off x="4526280" y="4343399"/>
            <a:ext cx="3108960" cy="1463040"/>
          </a:xfrm>
          <a:prstGeom prst="rect">
            <a:avLst/>
          </a:prstGeom>
          <a:noFill/>
        </p:spPr>
        <p:txBody>
          <a:bodyPr wrap="square">
            <a:spAutoFit/>
          </a:bodyPr>
          <a:lstStyle/>
          <a:p>
            <a:pPr>
              <a:defRPr sz="1300">
                <a:solidFill>
                  <a:srgbClr val="FFFFFF"/>
                </a:solidFill>
              </a:defRPr>
            </a:pPr>
            <a:r>
              <a:t>Zero-trust compliance notices delivered directly to employee inboxes with audit trace headers.</a:t>
            </a:r>
          </a:p>
        </p:txBody>
      </p:sp>
      <p:sp>
        <p:nvSpPr>
          <p:cNvPr id="23" name="Rounded Rectangle 22"/>
          <p:cNvSpPr/>
          <p:nvPr/>
        </p:nvSpPr>
        <p:spPr>
          <a:xfrm>
            <a:off x="7955280" y="3749039"/>
            <a:ext cx="3474720" cy="219456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3858767"/>
            <a:ext cx="3108960" cy="411480"/>
          </a:xfrm>
          <a:prstGeom prst="rect">
            <a:avLst/>
          </a:prstGeom>
          <a:noFill/>
        </p:spPr>
        <p:txBody>
          <a:bodyPr wrap="square">
            <a:spAutoFit/>
          </a:bodyPr>
          <a:lstStyle/>
          <a:p>
            <a:pPr>
              <a:defRPr sz="1300" b="1">
                <a:solidFill>
                  <a:srgbClr val="FB7185"/>
                </a:solidFill>
              </a:defRPr>
            </a:pPr>
            <a:r>
              <a:t>8-Agent Decision Layer</a:t>
            </a:r>
          </a:p>
        </p:txBody>
      </p:sp>
      <p:sp>
        <p:nvSpPr>
          <p:cNvPr id="25" name="TextBox 24"/>
          <p:cNvSpPr txBox="1"/>
          <p:nvPr/>
        </p:nvSpPr>
        <p:spPr>
          <a:xfrm>
            <a:off x="8138160" y="4343399"/>
            <a:ext cx="3108960" cy="1463040"/>
          </a:xfrm>
          <a:prstGeom prst="rect">
            <a:avLst/>
          </a:prstGeom>
          <a:noFill/>
        </p:spPr>
        <p:txBody>
          <a:bodyPr wrap="square">
            <a:spAutoFit/>
          </a:bodyPr>
          <a:lstStyle/>
          <a:p>
            <a:pPr>
              <a:defRPr sz="1300">
                <a:solidFill>
                  <a:srgbClr val="FFFFFF"/>
                </a:solidFill>
              </a:defRPr>
            </a:pPr>
            <a:r>
              <a:t>Consensus DAG evaluating HR drift, behavioral activity, and AST dependency safety proofs before execution.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Live Demo &amp; Artifacts</a:t>
            </a:r>
          </a:p>
          <a:p>
            <a:pPr>
              <a:defRPr sz="2000" b="1">
                <a:solidFill>
                  <a:srgbClr val="FFFFFF"/>
                </a:solidFill>
              </a:defRPr>
            </a:pPr>
            <a:r>
              <a:t>Production Deployment &amp; Walkthrough Links</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8 of 10</a:t>
            </a:r>
          </a:p>
        </p:txBody>
      </p:sp>
      <p:sp>
        <p:nvSpPr>
          <p:cNvPr id="8" name="Rounded Rectangle 7"/>
          <p:cNvSpPr/>
          <p:nvPr/>
        </p:nvSpPr>
        <p:spPr>
          <a:xfrm>
            <a:off x="731520" y="1280160"/>
            <a:ext cx="521208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4846320" cy="411480"/>
          </a:xfrm>
          <a:prstGeom prst="rect">
            <a:avLst/>
          </a:prstGeom>
          <a:noFill/>
        </p:spPr>
        <p:txBody>
          <a:bodyPr wrap="square">
            <a:spAutoFit/>
          </a:bodyPr>
          <a:lstStyle/>
          <a:p>
            <a:pPr>
              <a:defRPr sz="1300" b="1">
                <a:solidFill>
                  <a:srgbClr val="00D4AA"/>
                </a:solidFill>
              </a:defRPr>
            </a:pPr>
            <a:r>
              <a:t>Live Production Cockpit (Vercel)</a:t>
            </a:r>
          </a:p>
        </p:txBody>
      </p:sp>
      <p:sp>
        <p:nvSpPr>
          <p:cNvPr id="10" name="TextBox 9"/>
          <p:cNvSpPr txBox="1"/>
          <p:nvPr/>
        </p:nvSpPr>
        <p:spPr>
          <a:xfrm>
            <a:off x="914400" y="1828800"/>
            <a:ext cx="4846320" cy="4114800"/>
          </a:xfrm>
          <a:prstGeom prst="rect">
            <a:avLst/>
          </a:prstGeom>
          <a:noFill/>
        </p:spPr>
        <p:txBody>
          <a:bodyPr wrap="square">
            <a:spAutoFit/>
          </a:bodyPr>
          <a:lstStyle/>
          <a:p>
            <a:pPr>
              <a:defRPr sz="1300">
                <a:solidFill>
                  <a:srgbClr val="FFFFFF"/>
                </a:solidFill>
              </a:defRPr>
            </a:pPr>
            <a:r>
              <a:t>• URL: https://aegiszero-cockpit.vercel.app</a:t>
            </a:r>
            <a:br/>
            <a:r>
              <a:t>• Framework: Glassmorphism Tailwind UI + Vanilla JS</a:t>
            </a:r>
            <a:br/>
            <a:r>
              <a:t>• Hosting: Deployed on Vercel Edge Network</a:t>
            </a:r>
            <a:br/>
            <a:br/>
            <a:r>
              <a:t>Key Interactive Elements:</a:t>
            </a:r>
            <a:br/>
            <a:r>
              <a:t>• Live KPI Metric Gauges</a:t>
            </a:r>
            <a:br/>
            <a:r>
              <a:t>• 8-Agent War-Room Deliberation Tabs</a:t>
            </a:r>
            <a:br/>
            <a:r>
              <a:t>• One-Click Workato Webhook Setup Modal</a:t>
            </a:r>
            <a:br/>
            <a:r>
              <a:t>• ⚡ Run 8-Agent Swarm Execution Button</a:t>
            </a:r>
            <a:br/>
            <a:r>
              <a:t>• 📜 Export Cryptographic SOC2 Audit Certificate</a:t>
            </a:r>
          </a:p>
        </p:txBody>
      </p:sp>
      <p:sp>
        <p:nvSpPr>
          <p:cNvPr id="11" name="Rounded Rectangle 10"/>
          <p:cNvSpPr/>
          <p:nvPr/>
        </p:nvSpPr>
        <p:spPr>
          <a:xfrm>
            <a:off x="6217920" y="1280160"/>
            <a:ext cx="521208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89888"/>
            <a:ext cx="4846320" cy="411480"/>
          </a:xfrm>
          <a:prstGeom prst="rect">
            <a:avLst/>
          </a:prstGeom>
          <a:noFill/>
        </p:spPr>
        <p:txBody>
          <a:bodyPr wrap="square">
            <a:spAutoFit/>
          </a:bodyPr>
          <a:lstStyle/>
          <a:p>
            <a:pPr>
              <a:defRPr sz="1300" b="1">
                <a:solidFill>
                  <a:srgbClr val="38BDF8"/>
                </a:solidFill>
              </a:defRPr>
            </a:pPr>
            <a:r>
              <a:t>Workato Backend &amp; Demo Walkthrough</a:t>
            </a:r>
          </a:p>
        </p:txBody>
      </p:sp>
      <p:sp>
        <p:nvSpPr>
          <p:cNvPr id="13" name="TextBox 12"/>
          <p:cNvSpPr txBox="1"/>
          <p:nvPr/>
        </p:nvSpPr>
        <p:spPr>
          <a:xfrm>
            <a:off x="6400800" y="1828800"/>
            <a:ext cx="4846320" cy="4114800"/>
          </a:xfrm>
          <a:prstGeom prst="rect">
            <a:avLst/>
          </a:prstGeom>
          <a:noFill/>
        </p:spPr>
        <p:txBody>
          <a:bodyPr wrap="square">
            <a:spAutoFit/>
          </a:bodyPr>
          <a:lstStyle/>
          <a:p>
            <a:pPr>
              <a:defRPr sz="1300">
                <a:solidFill>
                  <a:srgbClr val="FFFFFF"/>
                </a:solidFill>
              </a:defRPr>
            </a:pPr>
            <a:r>
              <a:t>• Workato Recipe ID: 82962492</a:t>
            </a:r>
            <a:br/>
            <a:r>
              <a:t>• Recipe Name: AegisZero Backend API &amp; Slack Dispatcher</a:t>
            </a:r>
            <a:br/>
            <a:r>
              <a:t>• Database: Workato Data Tables (Enterprise_Identities)</a:t>
            </a:r>
            <a:br/>
            <a:r>
              <a:t>• ChatOps Channel: Slack #security-alerts</a:t>
            </a:r>
            <a:br/>
            <a:br/>
            <a:r>
              <a:t>Live Demo Video / Walkthrough Link:</a:t>
            </a:r>
            <a:br/>
            <a:r>
              <a:t>[Insert Screen Recording Walkthrough Link Here]</a:t>
            </a:r>
            <a:br/>
            <a:br/>
            <a:r>
              <a:t>Audit Attestation:</a:t>
            </a:r>
            <a:br/>
            <a:r>
              <a:t>Exports JSON certificate with SHA-256 cryptographic hash.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03  Business Impact</a:t>
            </a:r>
          </a:p>
          <a:p>
            <a:pPr>
              <a:defRPr sz="2000" b="1">
                <a:solidFill>
                  <a:srgbClr val="FFFFFF"/>
                </a:solidFill>
              </a:defRPr>
            </a:pPr>
            <a:r>
              <a:t>How This Solution Changes the Way Work Gets Done</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9 of 10</a:t>
            </a:r>
          </a:p>
        </p:txBody>
      </p:sp>
      <p:sp>
        <p:nvSpPr>
          <p:cNvPr id="8" name="Rounded Rectangle 7"/>
          <p:cNvSpPr/>
          <p:nvPr/>
        </p:nvSpPr>
        <p:spPr>
          <a:xfrm>
            <a:off x="731520" y="1280160"/>
            <a:ext cx="521208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4846320" cy="411480"/>
          </a:xfrm>
          <a:prstGeom prst="rect">
            <a:avLst/>
          </a:prstGeom>
          <a:noFill/>
        </p:spPr>
        <p:txBody>
          <a:bodyPr wrap="square">
            <a:spAutoFit/>
          </a:bodyPr>
          <a:lstStyle/>
          <a:p>
            <a:pPr>
              <a:defRPr sz="1300" b="1">
                <a:solidFill>
                  <a:srgbClr val="FB7185"/>
                </a:solidFill>
              </a:defRPr>
            </a:pPr>
            <a:r>
              <a:t>BEFORE AegisZero (Broken Manual Model)</a:t>
            </a:r>
          </a:p>
        </p:txBody>
      </p:sp>
      <p:sp>
        <p:nvSpPr>
          <p:cNvPr id="10" name="TextBox 9"/>
          <p:cNvSpPr txBox="1"/>
          <p:nvPr/>
        </p:nvSpPr>
        <p:spPr>
          <a:xfrm>
            <a:off x="914400" y="1828800"/>
            <a:ext cx="4846320" cy="4114800"/>
          </a:xfrm>
          <a:prstGeom prst="rect">
            <a:avLst/>
          </a:prstGeom>
          <a:noFill/>
        </p:spPr>
        <p:txBody>
          <a:bodyPr wrap="square">
            <a:spAutoFit/>
          </a:bodyPr>
          <a:lstStyle/>
          <a:p>
            <a:pPr>
              <a:defRPr sz="1300">
                <a:solidFill>
                  <a:srgbClr val="FFFFFF"/>
                </a:solidFill>
              </a:defRPr>
            </a:pPr>
            <a:r>
              <a:t>• Slow: 3–4 weeks spent circulating access spreadsheets to 50+ managers quarterly.</a:t>
            </a:r>
            <a:br/>
            <a:br/>
            <a:r>
              <a:t>• Risky: IT teams afraid to revoke stale credentials for fear of breaking pipelines.</a:t>
            </a:r>
            <a:br/>
            <a:br/>
            <a:r>
              <a:t>• Expensive: $55,500+ / yr in zombie license spend across idle accounts.</a:t>
            </a:r>
            <a:br/>
            <a:br/>
            <a:r>
              <a:t>• Vulnerable: 4 standing root administrator keys exposed to credential stuffing.</a:t>
            </a:r>
          </a:p>
        </p:txBody>
      </p:sp>
      <p:sp>
        <p:nvSpPr>
          <p:cNvPr id="11" name="Rounded Rectangle 10"/>
          <p:cNvSpPr/>
          <p:nvPr/>
        </p:nvSpPr>
        <p:spPr>
          <a:xfrm>
            <a:off x="6217920" y="1280160"/>
            <a:ext cx="521208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89888"/>
            <a:ext cx="4846320" cy="411480"/>
          </a:xfrm>
          <a:prstGeom prst="rect">
            <a:avLst/>
          </a:prstGeom>
          <a:noFill/>
        </p:spPr>
        <p:txBody>
          <a:bodyPr wrap="square">
            <a:spAutoFit/>
          </a:bodyPr>
          <a:lstStyle/>
          <a:p>
            <a:pPr>
              <a:defRPr sz="1300" b="1">
                <a:solidFill>
                  <a:srgbClr val="4ADE80"/>
                </a:solidFill>
              </a:defRPr>
            </a:pPr>
            <a:r>
              <a:t>AFTER AegisZero (Autonomous Workato Mesh)</a:t>
            </a:r>
          </a:p>
        </p:txBody>
      </p:sp>
      <p:sp>
        <p:nvSpPr>
          <p:cNvPr id="13" name="TextBox 12"/>
          <p:cNvSpPr txBox="1"/>
          <p:nvPr/>
        </p:nvSpPr>
        <p:spPr>
          <a:xfrm>
            <a:off x="6400800" y="1828800"/>
            <a:ext cx="4846320" cy="4114800"/>
          </a:xfrm>
          <a:prstGeom prst="rect">
            <a:avLst/>
          </a:prstGeom>
          <a:noFill/>
        </p:spPr>
        <p:txBody>
          <a:bodyPr wrap="square">
            <a:spAutoFit/>
          </a:bodyPr>
          <a:lstStyle/>
          <a:p>
            <a:pPr>
              <a:defRPr sz="1300">
                <a:solidFill>
                  <a:srgbClr val="FFFFFF"/>
                </a:solidFill>
              </a:defRPr>
            </a:pPr>
            <a:r>
              <a:t>• Instant: Continuous Zero-Trust remediation triggered upon role drift.</a:t>
            </a:r>
            <a:br/>
            <a:br/>
            <a:r>
              <a:t>• Safe: AST static analysis proves 0.0% pipeline outage blast radius.</a:t>
            </a:r>
            <a:br/>
            <a:br/>
            <a:r>
              <a:t>• Reclaimed: $55,500.00 / yr in zombie SaaS spend recovered.</a:t>
            </a:r>
            <a:br/>
            <a:br/>
            <a:r>
              <a:t>• Compliant: Toxic keys drop to 0; SOC2 compliance reaches 98% (Audit-Ready).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orkato_badge.png"/>
          <p:cNvPicPr>
            <a:picLocks noChangeAspect="1"/>
          </p:cNvPicPr>
          <p:nvPr/>
        </p:nvPicPr>
        <p:blipFill>
          <a:blip r:embed="rId2"/>
          <a:stretch>
            <a:fillRect/>
          </a:stretch>
        </p:blipFill>
        <p:spPr>
          <a:xfrm>
            <a:off x="10058400" y="182880"/>
            <a:ext cx="1645920" cy="411480"/>
          </a:xfrm>
          <a:prstGeom prst="rect">
            <a:avLst/>
          </a:prstGeom>
        </p:spPr>
      </p:pic>
      <p:sp>
        <p:nvSpPr>
          <p:cNvPr id="5" name="TextBox 4"/>
          <p:cNvSpPr txBox="1"/>
          <p:nvPr/>
        </p:nvSpPr>
        <p:spPr>
          <a:xfrm>
            <a:off x="7772400" y="228600"/>
            <a:ext cx="2194560" cy="548640"/>
          </a:xfrm>
          <a:prstGeom prst="rect">
            <a:avLst/>
          </a:prstGeom>
          <a:noFill/>
        </p:spPr>
        <p:txBody>
          <a:bodyPr wrap="none">
            <a:spAutoFit/>
          </a:bodyPr>
          <a:lstStyle/>
          <a:p>
            <a:pPr algn="r">
              <a:defRPr sz="1300" b="1">
                <a:solidFill>
                  <a:srgbClr val="00D4AA"/>
                </a:solidFill>
              </a:defRPr>
            </a:pPr>
            <a:r>
              <a:t>workato [hack]</a:t>
            </a:r>
          </a:p>
          <a:p>
            <a:pPr algn="r">
              <a:defRPr sz="1000">
                <a:solidFill>
                  <a:srgbClr val="A0AEC0"/>
                </a:solidFill>
              </a:defRPr>
            </a:pPr>
            <a:r>
              <a:t>Agentic India 2026</a:t>
            </a:r>
          </a:p>
        </p:txBody>
      </p:sp>
      <p:sp>
        <p:nvSpPr>
          <p:cNvPr id="6" name="TextBox 5"/>
          <p:cNvSpPr txBox="1"/>
          <p:nvPr/>
        </p:nvSpPr>
        <p:spPr>
          <a:xfrm>
            <a:off x="731520" y="109728"/>
            <a:ext cx="7315200" cy="822960"/>
          </a:xfrm>
          <a:prstGeom prst="rect">
            <a:avLst/>
          </a:prstGeom>
          <a:noFill/>
        </p:spPr>
        <p:txBody>
          <a:bodyPr wrap="none">
            <a:spAutoFit/>
          </a:bodyPr>
          <a:lstStyle/>
          <a:p>
            <a:pPr>
              <a:defRPr sz="1100" b="1">
                <a:solidFill>
                  <a:srgbClr val="00D4AA"/>
                </a:solidFill>
              </a:defRPr>
            </a:pPr>
            <a:r>
              <a:t>03  Business Impact</a:t>
            </a:r>
          </a:p>
          <a:p>
            <a:pPr>
              <a:defRPr sz="2000" b="1">
                <a:solidFill>
                  <a:srgbClr val="FFFFFF"/>
                </a:solidFill>
              </a:defRPr>
            </a:pPr>
            <a:r>
              <a:t>Measurable ROI &amp; Enterprise Value</a:t>
            </a:r>
          </a:p>
        </p:txBody>
      </p:sp>
      <p:sp>
        <p:nvSpPr>
          <p:cNvPr id="7" name="TextBox 6"/>
          <p:cNvSpPr txBox="1"/>
          <p:nvPr/>
        </p:nvSpPr>
        <p:spPr>
          <a:xfrm>
            <a:off x="731520" y="6446520"/>
            <a:ext cx="10698480" cy="365760"/>
          </a:xfrm>
          <a:prstGeom prst="rect">
            <a:avLst/>
          </a:prstGeom>
          <a:noFill/>
        </p:spPr>
        <p:txBody>
          <a:bodyPr wrap="none">
            <a:spAutoFit/>
          </a:bodyPr>
          <a:lstStyle/>
          <a:p>
            <a:pPr>
              <a:defRPr sz="1000">
                <a:solidFill>
                  <a:srgbClr val="A0AEC0"/>
                </a:solidFill>
              </a:defRPr>
            </a:pPr>
            <a:r>
              <a:t>AegisZero | Track 1: Enterprise Agentic Workflows                                                        Slide 10 of 10</a:t>
            </a:r>
          </a:p>
        </p:txBody>
      </p:sp>
      <p:sp>
        <p:nvSpPr>
          <p:cNvPr id="8" name="Rounded Rectangle 7"/>
          <p:cNvSpPr/>
          <p:nvPr/>
        </p:nvSpPr>
        <p:spPr>
          <a:xfrm>
            <a:off x="731520" y="1280160"/>
            <a:ext cx="521208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89888"/>
            <a:ext cx="4846320" cy="411480"/>
          </a:xfrm>
          <a:prstGeom prst="rect">
            <a:avLst/>
          </a:prstGeom>
          <a:noFill/>
        </p:spPr>
        <p:txBody>
          <a:bodyPr wrap="square">
            <a:spAutoFit/>
          </a:bodyPr>
          <a:lstStyle/>
          <a:p>
            <a:pPr>
              <a:defRPr sz="1300" b="1">
                <a:solidFill>
                  <a:srgbClr val="00D4AA"/>
                </a:solidFill>
              </a:defRPr>
            </a:pPr>
            <a:r>
              <a:t>Measurable ROI Metrics</a:t>
            </a:r>
          </a:p>
        </p:txBody>
      </p:sp>
      <p:sp>
        <p:nvSpPr>
          <p:cNvPr id="10" name="TextBox 9"/>
          <p:cNvSpPr txBox="1"/>
          <p:nvPr/>
        </p:nvSpPr>
        <p:spPr>
          <a:xfrm>
            <a:off x="914400" y="1828800"/>
            <a:ext cx="4846320" cy="4114800"/>
          </a:xfrm>
          <a:prstGeom prst="rect">
            <a:avLst/>
          </a:prstGeom>
          <a:noFill/>
        </p:spPr>
        <p:txBody>
          <a:bodyPr wrap="square">
            <a:spAutoFit/>
          </a:bodyPr>
          <a:lstStyle/>
          <a:p>
            <a:pPr>
              <a:defRPr sz="1300">
                <a:solidFill>
                  <a:srgbClr val="FFFFFF"/>
                </a:solidFill>
              </a:defRPr>
            </a:pPr>
            <a:r>
              <a:t>⏱️ Time Saved:</a:t>
            </a:r>
            <a:br/>
            <a:r>
              <a:t>• 120+ hours eliminated per quarterly audit cycle.</a:t>
            </a:r>
            <a:br/>
            <a:r>
              <a:t>• Sub-second autonomous remediation vs 30 days lag.</a:t>
            </a:r>
            <a:br/>
            <a:br/>
            <a:r>
              <a:t>💰 Cost Reclaimed:</a:t>
            </a:r>
            <a:br/>
            <a:r>
              <a:t>• $55,500.00 / year in recovered zombie spend.</a:t>
            </a:r>
            <a:br/>
            <a:r>
              <a:t>• 100% ROI achieved immediately upon activation.</a:t>
            </a:r>
            <a:br/>
            <a:br/>
            <a:r>
              <a:t>🛡️ Security &amp; Compliance:</a:t>
            </a:r>
            <a:br/>
            <a:r>
              <a:t>• Toxic Admin Keys: Reduced from 4 Keys ➔ 0 Keys.</a:t>
            </a:r>
            <a:br/>
            <a:r>
              <a:t>• SOC2 Compliance: Jumps from 18% ➔ 98% (Audit-Ready).</a:t>
            </a:r>
          </a:p>
        </p:txBody>
      </p:sp>
      <p:sp>
        <p:nvSpPr>
          <p:cNvPr id="11" name="Rounded Rectangle 10"/>
          <p:cNvSpPr/>
          <p:nvPr/>
        </p:nvSpPr>
        <p:spPr>
          <a:xfrm>
            <a:off x="6217920" y="1280160"/>
            <a:ext cx="5212080" cy="4846320"/>
          </a:xfrm>
          <a:prstGeom prst="roundRect">
            <a:avLst/>
          </a:prstGeom>
          <a:solidFill>
            <a:srgbClr val="131E3E"/>
          </a:solidFill>
          <a:ln w="1905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89888"/>
            <a:ext cx="4846320" cy="411480"/>
          </a:xfrm>
          <a:prstGeom prst="rect">
            <a:avLst/>
          </a:prstGeom>
          <a:noFill/>
        </p:spPr>
        <p:txBody>
          <a:bodyPr wrap="square">
            <a:spAutoFit/>
          </a:bodyPr>
          <a:lstStyle/>
          <a:p>
            <a:pPr>
              <a:defRPr sz="1300" b="1">
                <a:solidFill>
                  <a:srgbClr val="38BDF8"/>
                </a:solidFill>
              </a:defRPr>
            </a:pPr>
            <a:r>
              <a:t>Who Benefits Across the Organization</a:t>
            </a:r>
          </a:p>
        </p:txBody>
      </p:sp>
      <p:sp>
        <p:nvSpPr>
          <p:cNvPr id="13" name="TextBox 12"/>
          <p:cNvSpPr txBox="1"/>
          <p:nvPr/>
        </p:nvSpPr>
        <p:spPr>
          <a:xfrm>
            <a:off x="6400800" y="1828800"/>
            <a:ext cx="4846320" cy="4114800"/>
          </a:xfrm>
          <a:prstGeom prst="rect">
            <a:avLst/>
          </a:prstGeom>
          <a:noFill/>
        </p:spPr>
        <p:txBody>
          <a:bodyPr wrap="square">
            <a:spAutoFit/>
          </a:bodyPr>
          <a:lstStyle/>
          <a:p>
            <a:pPr>
              <a:defRPr sz="1300">
                <a:solidFill>
                  <a:srgbClr val="FFFFFF"/>
                </a:solidFill>
              </a:defRPr>
            </a:pPr>
            <a:r>
              <a:t>🔒 CISO &amp; SecOps Teams:</a:t>
            </a:r>
            <a:br/>
            <a:r>
              <a:t>Zero standing root privilege, continuous least-privilege enforcement, and automated KPMG/PwC audit attestation.</a:t>
            </a:r>
            <a:br/>
            <a:br/>
            <a:r>
              <a:t>💼 FinOps &amp; IT Finance:</a:t>
            </a:r>
            <a:br/>
            <a:r>
              <a:t>Automated license tier downgrades without impacting worker tools.</a:t>
            </a:r>
            <a:br/>
            <a:br/>
            <a:r>
              <a:t>💻 Engineering &amp; Product Teams:</a:t>
            </a:r>
            <a:br/>
            <a:r>
              <a:t>Zero pipeline outages; frictionless 1-click Slack 4-hour JIT elevation.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